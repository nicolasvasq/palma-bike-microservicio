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días. Esta presentación corresponde a la Evaluación Parcial 2 de Ingeniería DevOps, donde se construyó un pipeline CI/CD funcional sobre el microservicio Palma Bike usando Docker, GitHub Actions, pruebas automatizadas y análisis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esta diapositiva presento los objetivos principales, que corresponden a los cinco indicadores de logro de la evaluación: contenedores, pruebas automatizadas, seguridad y escalabilidad, despliegue continuo, y orquestación.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contenerizar el microservicio se creó un Dockerfile basado en Alpine. La imagen instala solo lo necesario para ejecutar Django y Pillow, eliminando después las herramientas de compilación. Esto reduce tanto el tamaño como la superficie de ataque.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 Compose actúa como orquestador. Permite levantar el microservicio con un solo comando, validar su salud periódicamente y mantenerlo activo. Es la base para escalar hacia arquitecturas más complejas.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pipeline consta de cuatro jobs secuenciales. Los jobs de seguridad y build dependen de que las pruebas pasen. De este modo, cualquier falla detiene el despliegue, garantizando calidad antes de llegar 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incorporaron pruebas unitarias con pytest-django. Cubren modelos, restricciones del modelo y vistas públicas. En la imagen se observa el pipeline ejecutando estas pruebas exitosamente, lo que da confianza para integrar cambios.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seguridad se aborda en varias capas. Bandit impide avanzar si detecta malas prácticas en el código. Trivy escanea la imagen Docker y genera un reporte. Dependabot supervisa dependencias obsoletas y credenciales ya no están hardcodeadas.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imagen muestra pull requests abiertos automáticamente por Dependabot para actualizar las GitHub Actions. Esto demuestra que el escaneo de dependencias está activo y aporta a la seguridad continua.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despliegue simulado valida el artefacto generado. En cada ejecución se levanta la aplicación en el runner de GitHub Actions, se comprueba que responde y se ejecuta un check administrativo de Django. Esto simula lo que ocurriría en un entorno cloud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mantiene GitFlow para separar el código de producción del de integración. La imagen muestra las ramas creadas durante la evaluación, incluyendo features de Docker, tests, seguridad, pipeline y documentación, además del hotfix de import.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trazabilidad es esencial en DevOps. Cada cambio fue integrado mediante pull request con títulos descriptivos y convención de commits. En la imagen se observa parte del historial mergeado, que documenta el avance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documentación es parte de la entrega. El README incluye instrucciones para ejecutar el proyecto localmente, construir la imagen Docker, levantar Docker Compose y entender el pipeline CI/CD. La captura muestra la sección dedicada a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resultado, todos los jobs del pipeline han pasado en la rama main. El repositorio está en estado estable y listo para escalar hacia un entorno de producción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conclusión, este trabajo permitió poner en práctica los conceptos de DevOps de forma integral: integración continua con pruebas, entrega continua con contenedores, seguridad desde el pipeline y trazabilidad mediante GitFlow y pull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Agradezco la atención. Quedo atento a sus preguntas sobre el pipeline, la contenerización, la seguridad o la estrategia de ramificación.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Pipeline CI/CD para el Microservicio Palma Bike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C8D7EB"/>
                </a:solidFill>
                <a:latin typeface="Calibri"/>
              </a:defRPr>
            </a:pPr>
            <a:r>
              <a:t>Evaluación Parcial N°2  •  Ingeniería DevOps (DOY0101)</a:t>
            </a:r>
            <a:br/>
            <a:r>
              <a:t>Contenedores, pruebas automatizadas, seguridad y despliegue continuo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Palma Bike  |  Ingeniería DevOps  |  Evaluación Parcial N°2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Objetivos de la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Contenerizar el microservicio Django con Docker.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Implementar un pipeline CI/CD en GitHub Actions.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Integrar pruebas automatizadas con pytest-django.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Incorporar análisis de seguridad: Bandit, Trivy y Dependabot.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Automatizar el despliegue en un entorno cloud simulado.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Orquestar los contenedores con Docker Compose.</a:t>
            </a:r>
          </a:p>
        </p:txBody>
      </p:sp>
      <p:pic>
        <p:nvPicPr>
          <p:cNvPr id="5" name="Picture 4" descr="01_repo_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947399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tIns="109728"/>
          <a:lstStyle/>
          <a:p>
            <a:pPr algn="r">
              <a:defRPr sz="1200">
                <a:solidFill>
                  <a:srgbClr val="505050"/>
                </a:solidFill>
                <a:latin typeface="Calibri"/>
              </a:defRPr>
            </a:pPr>
            <a:r>
              <a:t>Pipeline CI/CD Palma Bike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Palma Bike  |  Ingeniería DevOps  |  Evaluación Parcial N°2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Contenerización con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Dockerfile basado en python:3.13-alpine.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Imagen optimizada con dependencias mínimas.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Compilación de Pillow y limpieza de paquetes de build.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.dockerignore para reducir contexto de build.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Menor superficie de ataque frente a escaneos.</a:t>
            </a:r>
          </a:p>
        </p:txBody>
      </p:sp>
      <p:pic>
        <p:nvPicPr>
          <p:cNvPr id="5" name="Picture 4" descr="07_docker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9255013" cy="6035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tIns="109728"/>
          <a:lstStyle/>
          <a:p>
            <a:pPr algn="r">
              <a:defRPr sz="1200">
                <a:solidFill>
                  <a:srgbClr val="505050"/>
                </a:solidFill>
                <a:latin typeface="Calibri"/>
              </a:defRPr>
            </a:pPr>
            <a:r>
              <a:t>Pipeline CI/CD Palma Bike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Palma Bike  |  Ingeniería DevOps  |  Evaluación Parcial N°2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Orquestación con 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docker-compose.yml levanta el servicio web.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Variables de entorno configurables.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Healthcheck con curl sobre el puerto 8000.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Política de reinicio unless-stopped.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Base para escalar a múltiples servicios.</a:t>
            </a:r>
          </a:p>
        </p:txBody>
      </p:sp>
      <p:pic>
        <p:nvPicPr>
          <p:cNvPr id="5" name="Picture 4" descr="08_docker_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9255013" cy="6035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tIns="109728"/>
          <a:lstStyle/>
          <a:p>
            <a:pPr algn="r">
              <a:defRPr sz="1200">
                <a:solidFill>
                  <a:srgbClr val="505050"/>
                </a:solidFill>
                <a:latin typeface="Calibri"/>
              </a:defRPr>
            </a:pPr>
            <a:r>
              <a:t>Pipeline CI/CD Palma Bike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Palma Bike  |  Ingeniería DevOps  |  Evaluación Parcial N°2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Pipeline CI/CD en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Disparadores: push a develop y PR a main.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Job 1: Validación y pruebas (pytest, check, migraciones).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Job 2: Análisis estático de seguridad (Bandit).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Job 3: Build Docker + escaneo Trivy.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Job 4: Despliegue simulado con Docker Compose.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Dependencias entre jobs: si falla uno, se bloquea todo.</a:t>
            </a:r>
          </a:p>
        </p:txBody>
      </p:sp>
      <p:pic>
        <p:nvPicPr>
          <p:cNvPr id="5" name="Picture 4" descr="02_actions_l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6044485" cy="6035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tIns="109728"/>
          <a:lstStyle/>
          <a:p>
            <a:pPr algn="r">
              <a:defRPr sz="1200">
                <a:solidFill>
                  <a:srgbClr val="505050"/>
                </a:solidFill>
                <a:latin typeface="Calibri"/>
              </a:defRPr>
            </a:pPr>
            <a:r>
              <a:t>Pipeline CI/CD Palma Bike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Palma Bike  |  Ingeniería DevOps  |  Evaluación Parcial N°2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Pruebas automatizadas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Framework: pytest-django.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Tests de modelos: creación de Marca y Producto.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Validación de restricciones: stock no negativo.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Tests de vistas: respuestas HTTP 200.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Ejecutadas automáticamente en cada push/PR.</a:t>
            </a:r>
          </a:p>
        </p:txBody>
      </p:sp>
      <p:pic>
        <p:nvPicPr>
          <p:cNvPr id="5" name="Picture 4" descr="03_ru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7329081" cy="6035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tIns="109728"/>
          <a:lstStyle/>
          <a:p>
            <a:pPr algn="r">
              <a:defRPr sz="1200">
                <a:solidFill>
                  <a:srgbClr val="505050"/>
                </a:solidFill>
                <a:latin typeface="Calibri"/>
              </a:defRPr>
            </a:pPr>
            <a:r>
              <a:t>Pipeline CI/CD Palma Bike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Palma Bike  |  Ingeniería DevOps  |  Evaluación Parcial N°2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Seguridad en 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Bandit: análisis estático del código Python.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Bloqueo en severidad MEDIA o superior.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Trivy: escaneo de vulnerabilidades en imagen Docker.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Reporte SARIF como artefacto del pipeline.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Dependabot: actualización automática de dependencias.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Credenciales movidas a variables de entorno.</a:t>
            </a:r>
          </a:p>
        </p:txBody>
      </p:sp>
      <p:pic>
        <p:nvPicPr>
          <p:cNvPr id="5" name="Picture 4" descr="09_workflow_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2890316" cy="6035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tIns="109728"/>
          <a:lstStyle/>
          <a:p>
            <a:pPr algn="r">
              <a:defRPr sz="1200">
                <a:solidFill>
                  <a:srgbClr val="505050"/>
                </a:solidFill>
                <a:latin typeface="Calibri"/>
              </a:defRPr>
            </a:pPr>
            <a:r>
              <a:t>Pipeline CI/CD Palma Bike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Palma Bike  |  Ingeniería DevOps  |  Evaluación Parcial N°2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Gestión de dependencias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.github/dependabot.yml configurado.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Revisa requirements.txt y GitHub Actions.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Genera pull requests automáticos semanales.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Evidencia real: PRs #18 a #21 creados automáticamente.</a:t>
            </a:r>
          </a:p>
        </p:txBody>
      </p:sp>
      <p:pic>
        <p:nvPicPr>
          <p:cNvPr id="5" name="Picture 4" descr="05_dependabot_p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8188888" cy="6035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tIns="109728"/>
          <a:lstStyle/>
          <a:p>
            <a:pPr algn="r">
              <a:defRPr sz="1200">
                <a:solidFill>
                  <a:srgbClr val="505050"/>
                </a:solidFill>
                <a:latin typeface="Calibri"/>
              </a:defRPr>
            </a:pPr>
            <a:r>
              <a:t>Pipeline CI/CD Palma Bike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Despliegue automatizado simulado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Último job del pipeline CI/CD.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Levanta el servicio: docker compose up -d --build.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Verifica salud con curl a localhost:8000.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Ejecuta manage.py check dentro del contenedor.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Finaliza con docker compose down.</a:t>
            </a:r>
          </a:p>
        </p:txBody>
      </p:sp>
      <p:pic>
        <p:nvPicPr>
          <p:cNvPr id="4" name="Picture 3" descr="03_ru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7329081" cy="6035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tIns="109728"/>
          <a:lstStyle/>
          <a:p>
            <a:pPr algn="r">
              <a:defRPr sz="1200">
                <a:solidFill>
                  <a:srgbClr val="505050"/>
                </a:solidFill>
                <a:latin typeface="Calibri"/>
              </a:defRPr>
            </a:pPr>
            <a:r>
              <a:t>Pipeline CI/CD Palma Bike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Palma Bike  |  Ingeniería DevOps  |  Evaluación Parcial N°2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Estrategia de ramificación GitFlow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main: código estable y desplegable.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develop: integración continua de features.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feature/*: nuevas funcionalidades.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hotfix/*: correcciones urgentes.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Todo cambio pasa por Pull Request.</a:t>
            </a:r>
          </a:p>
        </p:txBody>
      </p:sp>
      <p:pic>
        <p:nvPicPr>
          <p:cNvPr id="5" name="Picture 4" descr="06_bra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8906439" cy="6035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tIns="109728"/>
          <a:lstStyle/>
          <a:p>
            <a:pPr algn="r">
              <a:defRPr sz="1200">
                <a:solidFill>
                  <a:srgbClr val="505050"/>
                </a:solidFill>
                <a:latin typeface="Calibri"/>
              </a:defRPr>
            </a:pPr>
            <a:r>
              <a:t>Pipeline CI/CD Palma Bike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Palma Bike  |  Ingeniería DevOps  |  Evaluación Parcial N°2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Pull Requests y 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Más de 10 PRs mergeados durante la EP2.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Convención de commits Conventional Commits.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Cada PR con descripción y contexto.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Historia completa y rastreable.</a:t>
            </a:r>
          </a:p>
        </p:txBody>
      </p:sp>
      <p:pic>
        <p:nvPicPr>
          <p:cNvPr id="5" name="Picture 4" descr="04_pull_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7668615" cy="6035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tIns="109728"/>
          <a:lstStyle/>
          <a:p>
            <a:pPr algn="r">
              <a:defRPr sz="1200">
                <a:solidFill>
                  <a:srgbClr val="505050"/>
                </a:solidFill>
                <a:latin typeface="Calibri"/>
              </a:defRPr>
            </a:pPr>
            <a:r>
              <a:t>Pipeline CI/CD Palma Bike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Palma Bike  |  Ingeniería DevOps  |  Evaluación Parcial N°2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Documentación del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README.md actualizado con toda la EP2.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Secciones de Docker, Compose, pruebas y seguridad.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Variables de entorno documentadas.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Explicación del despliegue simulado.</a:t>
            </a:r>
          </a:p>
        </p:txBody>
      </p:sp>
      <p:pic>
        <p:nvPicPr>
          <p:cNvPr id="5" name="Picture 4" descr="10_readm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1480235" cy="6035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tIns="109728"/>
          <a:lstStyle/>
          <a:p>
            <a:pPr algn="r">
              <a:defRPr sz="1200">
                <a:solidFill>
                  <a:srgbClr val="505050"/>
                </a:solidFill>
                <a:latin typeface="Calibri"/>
              </a:defRPr>
            </a:pPr>
            <a:r>
              <a:t>Pipeline CI/CD Palma Bike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Palma Bike  |  Ingeniería DevOps  |  Evaluación Parcial N°2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Pipeline CI/CD funcional y aprobado en main.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Imagen Docker construida y escaneada.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Pruebas automatizadas pasando.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Despliegue simulado exitoso.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Dependabot activo generando actualizaciones.</a:t>
            </a:r>
          </a:p>
        </p:txBody>
      </p:sp>
      <p:pic>
        <p:nvPicPr>
          <p:cNvPr id="5" name="Picture 4" descr="01_repo_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1302673" cy="6035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tIns="109728"/>
          <a:lstStyle/>
          <a:p>
            <a:pPr algn="r">
              <a:defRPr sz="1200">
                <a:solidFill>
                  <a:srgbClr val="505050"/>
                </a:solidFill>
                <a:latin typeface="Calibri"/>
              </a:defRPr>
            </a:pPr>
            <a:r>
              <a:t>Pipeline CI/CD Palma Bike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Palma Bike  |  Ingeniería DevOps  |  Evaluación Parcial N°2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Se construyó un pipeline CI/CD completo sobre el microservicio.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Se integraron contenedores, pruebas, seguridad y despliegue simulado.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GitFlow permite trabajo colaborativo y trazable.</a:t>
            </a:r>
          </a:p>
          <a:p>
            <a:pPr>
              <a:spcAft>
                <a:spcPts val="1000"/>
              </a:spcAft>
              <a:defRPr sz="1800">
                <a:solidFill>
                  <a:srgbClr val="505050"/>
                </a:solidFill>
                <a:latin typeface="Calibri"/>
              </a:defRPr>
            </a:pPr>
            <a:r>
              <a:t>El repositorio está preparado para escalar a producción.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tIns="109728"/>
          <a:lstStyle/>
          <a:p>
            <a:pPr algn="r">
              <a:defRPr sz="1200">
                <a:solidFill>
                  <a:srgbClr val="505050"/>
                </a:solidFill>
                <a:latin typeface="Calibri"/>
              </a:defRPr>
            </a:pPr>
            <a:r>
              <a:t>Pipeline CI/CD Palma Bike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Muchas 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7EB"/>
                </a:solidFill>
                <a:latin typeface="Calibri"/>
              </a:defRPr>
            </a:pPr>
            <a: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